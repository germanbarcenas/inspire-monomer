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9" r:id="rId7"/>
    <p:sldId id="270" r:id="rId8"/>
    <p:sldId id="261" r:id="rId9"/>
    <p:sldId id="262" r:id="rId10"/>
    <p:sldId id="265" r:id="rId11"/>
    <p:sldId id="266" r:id="rId12"/>
    <p:sldId id="267" r:id="rId13"/>
    <p:sldId id="268" r:id="rId14"/>
    <p:sldId id="26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400" autoAdjust="0"/>
  </p:normalViewPr>
  <p:slideViewPr>
    <p:cSldViewPr snapToGrid="0">
      <p:cViewPr>
        <p:scale>
          <a:sx n="50" d="100"/>
          <a:sy n="50" d="100"/>
        </p:scale>
        <p:origin x="1934" y="81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079CC8-E92E-4A16-B470-02BB8B5E619D}" type="datetimeFigureOut">
              <a:rPr lang="en-US" smtClean="0"/>
              <a:t>4/24/2020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F3C4BB-1444-4B77-860B-4FB8F6B071E6}" type="slidenum">
              <a:rPr lang="en-US" smtClean="0"/>
              <a:t>‹#›</a:t>
            </a:fld>
            <a:endParaRPr lang="en-US"/>
          </a:p>
        </p:txBody>
      </p:sp>
    </p:spTree>
    <p:extLst>
      <p:ext uri="{BB962C8B-B14F-4D97-AF65-F5344CB8AC3E}">
        <p14:creationId xmlns:p14="http://schemas.microsoft.com/office/powerpoint/2010/main" val="3045398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DA 16:</a:t>
            </a:r>
          </a:p>
          <a:p>
            <a:r>
              <a:rPr lang="en-US" dirty="0" smtClean="0"/>
              <a:t>1538-1569</a:t>
            </a:r>
          </a:p>
          <a:p>
            <a:r>
              <a:rPr lang="en-US" dirty="0" smtClean="0"/>
              <a:t>DA</a:t>
            </a:r>
            <a:r>
              <a:rPr lang="en-US" baseline="0" dirty="0" smtClean="0"/>
              <a:t> 15:</a:t>
            </a:r>
          </a:p>
          <a:p>
            <a:r>
              <a:rPr lang="en-US" baseline="0" dirty="0" smtClean="0"/>
              <a:t>1506-1537</a:t>
            </a:r>
          </a:p>
          <a:p>
            <a:r>
              <a:rPr lang="en-US" baseline="0" dirty="0" smtClean="0"/>
              <a:t>CY5 42</a:t>
            </a:r>
          </a:p>
          <a:p>
            <a:r>
              <a:rPr lang="en-US" baseline="0" dirty="0" smtClean="0"/>
              <a:t>509-583</a:t>
            </a:r>
            <a:endParaRPr lang="en-US" dirty="0" smtClean="0"/>
          </a:p>
        </p:txBody>
      </p:sp>
      <p:sp>
        <p:nvSpPr>
          <p:cNvPr id="4" name="Slide Number Placeholder 3"/>
          <p:cNvSpPr>
            <a:spLocks noGrp="1"/>
          </p:cNvSpPr>
          <p:nvPr>
            <p:ph type="sldNum" sz="quarter" idx="10"/>
          </p:nvPr>
        </p:nvSpPr>
        <p:spPr/>
        <p:txBody>
          <a:bodyPr/>
          <a:lstStyle/>
          <a:p>
            <a:fld id="{02F3C4BB-1444-4B77-860B-4FB8F6B071E6}" type="slidenum">
              <a:rPr lang="en-US" smtClean="0"/>
              <a:t>11</a:t>
            </a:fld>
            <a:endParaRPr lang="en-US"/>
          </a:p>
        </p:txBody>
      </p:sp>
    </p:spTree>
    <p:extLst>
      <p:ext uri="{BB962C8B-B14F-4D97-AF65-F5344CB8AC3E}">
        <p14:creationId xmlns:p14="http://schemas.microsoft.com/office/powerpoint/2010/main" val="4057408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EF7ABB2-E0FB-408F-BD94-B752130364B9}" type="datetimeFigureOut">
              <a:rPr lang="en-US" smtClean="0"/>
              <a:t>4/24/2020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BBC363-5B7B-4F21-ADB6-F4D4ACDD364E}" type="slidenum">
              <a:rPr lang="en-US" smtClean="0"/>
              <a:t>‹#›</a:t>
            </a:fld>
            <a:endParaRPr lang="en-US"/>
          </a:p>
        </p:txBody>
      </p:sp>
    </p:spTree>
    <p:extLst>
      <p:ext uri="{BB962C8B-B14F-4D97-AF65-F5344CB8AC3E}">
        <p14:creationId xmlns:p14="http://schemas.microsoft.com/office/powerpoint/2010/main" val="3705974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EF7ABB2-E0FB-408F-BD94-B752130364B9}" type="datetimeFigureOut">
              <a:rPr lang="en-US" smtClean="0"/>
              <a:t>4/24/2020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BBC363-5B7B-4F21-ADB6-F4D4ACDD364E}" type="slidenum">
              <a:rPr lang="en-US" smtClean="0"/>
              <a:t>‹#›</a:t>
            </a:fld>
            <a:endParaRPr lang="en-US"/>
          </a:p>
        </p:txBody>
      </p:sp>
    </p:spTree>
    <p:extLst>
      <p:ext uri="{BB962C8B-B14F-4D97-AF65-F5344CB8AC3E}">
        <p14:creationId xmlns:p14="http://schemas.microsoft.com/office/powerpoint/2010/main" val="2321706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EF7ABB2-E0FB-408F-BD94-B752130364B9}" type="datetimeFigureOut">
              <a:rPr lang="en-US" smtClean="0"/>
              <a:t>4/24/2020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BBC363-5B7B-4F21-ADB6-F4D4ACDD364E}" type="slidenum">
              <a:rPr lang="en-US" smtClean="0"/>
              <a:t>‹#›</a:t>
            </a:fld>
            <a:endParaRPr lang="en-US"/>
          </a:p>
        </p:txBody>
      </p:sp>
    </p:spTree>
    <p:extLst>
      <p:ext uri="{BB962C8B-B14F-4D97-AF65-F5344CB8AC3E}">
        <p14:creationId xmlns:p14="http://schemas.microsoft.com/office/powerpoint/2010/main" val="3118348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EF7ABB2-E0FB-408F-BD94-B752130364B9}" type="datetimeFigureOut">
              <a:rPr lang="en-US" smtClean="0"/>
              <a:t>4/24/2020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BBC363-5B7B-4F21-ADB6-F4D4ACDD364E}" type="slidenum">
              <a:rPr lang="en-US" smtClean="0"/>
              <a:t>‹#›</a:t>
            </a:fld>
            <a:endParaRPr lang="en-US"/>
          </a:p>
        </p:txBody>
      </p:sp>
    </p:spTree>
    <p:extLst>
      <p:ext uri="{BB962C8B-B14F-4D97-AF65-F5344CB8AC3E}">
        <p14:creationId xmlns:p14="http://schemas.microsoft.com/office/powerpoint/2010/main" val="694100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EF7ABB2-E0FB-408F-BD94-B752130364B9}" type="datetimeFigureOut">
              <a:rPr lang="en-US" smtClean="0"/>
              <a:t>4/24/2020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BBC363-5B7B-4F21-ADB6-F4D4ACDD364E}" type="slidenum">
              <a:rPr lang="en-US" smtClean="0"/>
              <a:t>‹#›</a:t>
            </a:fld>
            <a:endParaRPr lang="en-US"/>
          </a:p>
        </p:txBody>
      </p:sp>
    </p:spTree>
    <p:extLst>
      <p:ext uri="{BB962C8B-B14F-4D97-AF65-F5344CB8AC3E}">
        <p14:creationId xmlns:p14="http://schemas.microsoft.com/office/powerpoint/2010/main" val="1024322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EF7ABB2-E0FB-408F-BD94-B752130364B9}" type="datetimeFigureOut">
              <a:rPr lang="en-US" smtClean="0"/>
              <a:t>4/24/2020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0BBC363-5B7B-4F21-ADB6-F4D4ACDD364E}" type="slidenum">
              <a:rPr lang="en-US" smtClean="0"/>
              <a:t>‹#›</a:t>
            </a:fld>
            <a:endParaRPr lang="en-US"/>
          </a:p>
        </p:txBody>
      </p:sp>
    </p:spTree>
    <p:extLst>
      <p:ext uri="{BB962C8B-B14F-4D97-AF65-F5344CB8AC3E}">
        <p14:creationId xmlns:p14="http://schemas.microsoft.com/office/powerpoint/2010/main" val="2165844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F7ABB2-E0FB-408F-BD94-B752130364B9}" type="datetimeFigureOut">
              <a:rPr lang="en-US" smtClean="0"/>
              <a:t>4/24/2020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0BBC363-5B7B-4F21-ADB6-F4D4ACDD364E}" type="slidenum">
              <a:rPr lang="en-US" smtClean="0"/>
              <a:t>‹#›</a:t>
            </a:fld>
            <a:endParaRPr lang="en-US"/>
          </a:p>
        </p:txBody>
      </p:sp>
    </p:spTree>
    <p:extLst>
      <p:ext uri="{BB962C8B-B14F-4D97-AF65-F5344CB8AC3E}">
        <p14:creationId xmlns:p14="http://schemas.microsoft.com/office/powerpoint/2010/main" val="325274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EF7ABB2-E0FB-408F-BD94-B752130364B9}" type="datetimeFigureOut">
              <a:rPr lang="en-US" smtClean="0"/>
              <a:t>4/24/2020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BBC363-5B7B-4F21-ADB6-F4D4ACDD364E}" type="slidenum">
              <a:rPr lang="en-US" smtClean="0"/>
              <a:t>‹#›</a:t>
            </a:fld>
            <a:endParaRPr lang="en-US"/>
          </a:p>
        </p:txBody>
      </p:sp>
    </p:spTree>
    <p:extLst>
      <p:ext uri="{BB962C8B-B14F-4D97-AF65-F5344CB8AC3E}">
        <p14:creationId xmlns:p14="http://schemas.microsoft.com/office/powerpoint/2010/main" val="3008881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EF7ABB2-E0FB-408F-BD94-B752130364B9}" type="datetimeFigureOut">
              <a:rPr lang="en-US" smtClean="0"/>
              <a:t>4/24/2020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BBC363-5B7B-4F21-ADB6-F4D4ACDD364E}" type="slidenum">
              <a:rPr lang="en-US" smtClean="0"/>
              <a:t>‹#›</a:t>
            </a:fld>
            <a:endParaRPr lang="en-US"/>
          </a:p>
        </p:txBody>
      </p:sp>
    </p:spTree>
    <p:extLst>
      <p:ext uri="{BB962C8B-B14F-4D97-AF65-F5344CB8AC3E}">
        <p14:creationId xmlns:p14="http://schemas.microsoft.com/office/powerpoint/2010/main" val="394192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EF7ABB2-E0FB-408F-BD94-B752130364B9}" type="datetimeFigureOut">
              <a:rPr lang="en-US" smtClean="0"/>
              <a:t>4/24/2020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BBC363-5B7B-4F21-ADB6-F4D4ACDD364E}" type="slidenum">
              <a:rPr lang="en-US" smtClean="0"/>
              <a:t>‹#›</a:t>
            </a:fld>
            <a:endParaRPr lang="en-US"/>
          </a:p>
        </p:txBody>
      </p:sp>
    </p:spTree>
    <p:extLst>
      <p:ext uri="{BB962C8B-B14F-4D97-AF65-F5344CB8AC3E}">
        <p14:creationId xmlns:p14="http://schemas.microsoft.com/office/powerpoint/2010/main" val="2541022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EF7ABB2-E0FB-408F-BD94-B752130364B9}" type="datetimeFigureOut">
              <a:rPr lang="en-US" smtClean="0"/>
              <a:t>4/24/2020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BBC363-5B7B-4F21-ADB6-F4D4ACDD364E}" type="slidenum">
              <a:rPr lang="en-US" smtClean="0"/>
              <a:t>‹#›</a:t>
            </a:fld>
            <a:endParaRPr lang="en-US"/>
          </a:p>
        </p:txBody>
      </p:sp>
    </p:spTree>
    <p:extLst>
      <p:ext uri="{BB962C8B-B14F-4D97-AF65-F5344CB8AC3E}">
        <p14:creationId xmlns:p14="http://schemas.microsoft.com/office/powerpoint/2010/main" val="2786152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F7ABB2-E0FB-408F-BD94-B752130364B9}" type="datetimeFigureOut">
              <a:rPr lang="en-US" smtClean="0"/>
              <a:t>4/24/2020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BBC363-5B7B-4F21-ADB6-F4D4ACDD364E}" type="slidenum">
              <a:rPr lang="en-US" smtClean="0"/>
              <a:t>‹#›</a:t>
            </a:fld>
            <a:endParaRPr lang="en-US"/>
          </a:p>
        </p:txBody>
      </p:sp>
    </p:spTree>
    <p:extLst>
      <p:ext uri="{BB962C8B-B14F-4D97-AF65-F5344CB8AC3E}">
        <p14:creationId xmlns:p14="http://schemas.microsoft.com/office/powerpoint/2010/main" val="14068100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mdanalysis.or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INSPIRE Single Monomer Rotation</a:t>
            </a:r>
            <a:endParaRPr lang="en-US" dirty="0"/>
          </a:p>
        </p:txBody>
      </p:sp>
      <p:sp>
        <p:nvSpPr>
          <p:cNvPr id="3" name="Subtitle 2"/>
          <p:cNvSpPr>
            <a:spLocks noGrp="1"/>
          </p:cNvSpPr>
          <p:nvPr>
            <p:ph type="subTitle" idx="1"/>
          </p:nvPr>
        </p:nvSpPr>
        <p:spPr/>
        <p:txBody>
          <a:bodyPr/>
          <a:lstStyle/>
          <a:p>
            <a:r>
              <a:rPr lang="en-US" dirty="0" smtClean="0"/>
              <a:t>German </a:t>
            </a:r>
            <a:r>
              <a:rPr lang="en-US" dirty="0" err="1" smtClean="0"/>
              <a:t>Barcenas</a:t>
            </a:r>
            <a:endParaRPr lang="en-US" dirty="0"/>
          </a:p>
        </p:txBody>
      </p:sp>
    </p:spTree>
    <p:extLst>
      <p:ext uri="{BB962C8B-B14F-4D97-AF65-F5344CB8AC3E}">
        <p14:creationId xmlns:p14="http://schemas.microsoft.com/office/powerpoint/2010/main" val="973057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normAutofit fontScale="77500" lnSpcReduction="20000"/>
          </a:bodyPr>
          <a:lstStyle/>
          <a:p>
            <a:pPr marL="0" indent="0">
              <a:buNone/>
            </a:pPr>
            <a:endParaRPr lang="en-US" dirty="0" smtClean="0"/>
          </a:p>
          <a:p>
            <a:r>
              <a:rPr lang="en-US" dirty="0" smtClean="0"/>
              <a:t>Starting structure</a:t>
            </a:r>
          </a:p>
          <a:p>
            <a:pPr lvl="1"/>
            <a:r>
              <a:rPr lang="en-US" dirty="0" smtClean="0"/>
              <a:t>MD preparation</a:t>
            </a:r>
          </a:p>
          <a:p>
            <a:pPr lvl="2"/>
            <a:r>
              <a:rPr lang="en-US" dirty="0" smtClean="0"/>
              <a:t>Force field generation</a:t>
            </a:r>
          </a:p>
          <a:p>
            <a:pPr lvl="1"/>
            <a:r>
              <a:rPr lang="en-US" dirty="0" smtClean="0"/>
              <a:t>File preparation of DNA + monomer </a:t>
            </a:r>
          </a:p>
          <a:p>
            <a:pPr lvl="2"/>
            <a:r>
              <a:rPr lang="en-US" dirty="0" smtClean="0"/>
              <a:t>Renaming atoms to follow force field conventions</a:t>
            </a:r>
          </a:p>
          <a:p>
            <a:r>
              <a:rPr lang="en-US" dirty="0" smtClean="0"/>
              <a:t>Molecular Dynamics using GROMACS</a:t>
            </a:r>
          </a:p>
          <a:p>
            <a:pPr lvl="1"/>
            <a:r>
              <a:rPr lang="en-US" dirty="0" smtClean="0"/>
              <a:t>Simulation condition setting</a:t>
            </a:r>
          </a:p>
          <a:p>
            <a:pPr lvl="2"/>
            <a:r>
              <a:rPr lang="en-US" dirty="0" smtClean="0"/>
              <a:t>Box setting, solvation choice</a:t>
            </a:r>
          </a:p>
          <a:p>
            <a:pPr lvl="2"/>
            <a:r>
              <a:rPr lang="en-US" dirty="0" smtClean="0"/>
              <a:t>Energy minimization</a:t>
            </a:r>
          </a:p>
          <a:p>
            <a:pPr lvl="3"/>
            <a:r>
              <a:rPr lang="en-US" dirty="0" smtClean="0"/>
              <a:t>Necessary check for steric clashes, conflicting geometries, etc.</a:t>
            </a:r>
          </a:p>
          <a:p>
            <a:pPr lvl="2"/>
            <a:r>
              <a:rPr lang="en-US" dirty="0" smtClean="0"/>
              <a:t>Equilibration steps</a:t>
            </a:r>
          </a:p>
          <a:p>
            <a:pPr lvl="3"/>
            <a:r>
              <a:rPr lang="en-US" dirty="0" smtClean="0"/>
              <a:t>Solvent-system interface needs addressing via NVT equilibrium condition</a:t>
            </a:r>
          </a:p>
          <a:p>
            <a:pPr lvl="2"/>
            <a:r>
              <a:rPr lang="en-US" dirty="0" smtClean="0"/>
              <a:t>Production MD</a:t>
            </a:r>
          </a:p>
          <a:p>
            <a:pPr lvl="1"/>
            <a:r>
              <a:rPr lang="en-US" dirty="0" smtClean="0"/>
              <a:t>Analysis</a:t>
            </a:r>
          </a:p>
          <a:p>
            <a:pPr lvl="2"/>
            <a:r>
              <a:rPr lang="en-US" dirty="0" smtClean="0"/>
              <a:t>Based on E. </a:t>
            </a:r>
            <a:r>
              <a:rPr lang="en-US" dirty="0" err="1" smtClean="0"/>
              <a:t>Stennett</a:t>
            </a:r>
            <a:r>
              <a:rPr lang="en-US" dirty="0" smtClean="0"/>
              <a:t> paper, a method of demonstration for orientation</a:t>
            </a:r>
          </a:p>
        </p:txBody>
      </p:sp>
    </p:spTree>
    <p:extLst>
      <p:ext uri="{BB962C8B-B14F-4D97-AF65-F5344CB8AC3E}">
        <p14:creationId xmlns:p14="http://schemas.microsoft.com/office/powerpoint/2010/main" val="341686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Starting Structure</a:t>
            </a:r>
            <a:endParaRPr lang="en-US" dirty="0"/>
          </a:p>
        </p:txBody>
      </p:sp>
      <p:sp>
        <p:nvSpPr>
          <p:cNvPr id="3" name="Content Placeholder 2"/>
          <p:cNvSpPr>
            <a:spLocks noGrp="1"/>
          </p:cNvSpPr>
          <p:nvPr>
            <p:ph idx="1"/>
          </p:nvPr>
        </p:nvSpPr>
        <p:spPr/>
        <p:txBody>
          <a:bodyPr/>
          <a:lstStyle/>
          <a:p>
            <a:r>
              <a:rPr lang="en-US" dirty="0" smtClean="0"/>
              <a:t>This part of the work is mostly making sure that the atoms in your .</a:t>
            </a:r>
            <a:r>
              <a:rPr lang="en-US" dirty="0" err="1" smtClean="0"/>
              <a:t>pdb</a:t>
            </a:r>
            <a:r>
              <a:rPr lang="en-US" dirty="0" smtClean="0"/>
              <a:t> file share the same name as specified by your force field. GROMACS will not even allow you to continue if the names do not exist. </a:t>
            </a:r>
          </a:p>
          <a:p>
            <a:r>
              <a:rPr lang="en-US" dirty="0" smtClean="0"/>
              <a:t>Likewise the </a:t>
            </a:r>
            <a:r>
              <a:rPr lang="en-US" dirty="0" err="1" smtClean="0"/>
              <a:t>forcefield</a:t>
            </a:r>
            <a:r>
              <a:rPr lang="en-US" dirty="0" smtClean="0"/>
              <a:t> parameters must be specified for all atoms. GROMACS will not allow you to continue if this isn’t explicitly listed. </a:t>
            </a:r>
          </a:p>
          <a:p>
            <a:endParaRPr lang="en-US" dirty="0"/>
          </a:p>
        </p:txBody>
      </p:sp>
    </p:spTree>
    <p:extLst>
      <p:ext uri="{BB962C8B-B14F-4D97-AF65-F5344CB8AC3E}">
        <p14:creationId xmlns:p14="http://schemas.microsoft.com/office/powerpoint/2010/main" val="672513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Molecular Dynamics - Preparations</a:t>
            </a:r>
            <a:endParaRPr lang="en-US" dirty="0"/>
          </a:p>
        </p:txBody>
      </p:sp>
      <p:sp>
        <p:nvSpPr>
          <p:cNvPr id="3" name="Content Placeholder 2"/>
          <p:cNvSpPr>
            <a:spLocks noGrp="1"/>
          </p:cNvSpPr>
          <p:nvPr>
            <p:ph idx="1"/>
          </p:nvPr>
        </p:nvSpPr>
        <p:spPr/>
        <p:txBody>
          <a:bodyPr/>
          <a:lstStyle/>
          <a:p>
            <a:r>
              <a:rPr lang="en-US" dirty="0" smtClean="0"/>
              <a:t>Experimental condition consideration:</a:t>
            </a:r>
          </a:p>
          <a:p>
            <a:pPr lvl="1"/>
            <a:r>
              <a:rPr lang="en-US" dirty="0" smtClean="0"/>
              <a:t>How can we make this simulation mimic some DNA tile constraints?</a:t>
            </a:r>
          </a:p>
          <a:p>
            <a:pPr lvl="2"/>
            <a:r>
              <a:rPr lang="en-US" dirty="0" smtClean="0"/>
              <a:t>Without specifying, GROMACS will have a free floating DNA-monomer system in solvent.</a:t>
            </a:r>
          </a:p>
          <a:p>
            <a:pPr lvl="3"/>
            <a:r>
              <a:rPr lang="en-US" dirty="0" smtClean="0"/>
              <a:t>By adding some position restrains to the terminating oxygen of the DNA used in simulation, the hope is that this is a better representation of any tile-induced torsional effects.</a:t>
            </a:r>
          </a:p>
          <a:p>
            <a:pPr lvl="2"/>
            <a:r>
              <a:rPr lang="en-US" dirty="0" smtClean="0"/>
              <a:t>Position restrains can be edited in the </a:t>
            </a:r>
            <a:r>
              <a:rPr lang="en-US" dirty="0" err="1" smtClean="0"/>
              <a:t>posre</a:t>
            </a:r>
            <a:r>
              <a:rPr lang="en-US" dirty="0" smtClean="0"/>
              <a:t>_.</a:t>
            </a:r>
            <a:r>
              <a:rPr lang="en-US" dirty="0" err="1" smtClean="0"/>
              <a:t>itp</a:t>
            </a:r>
            <a:r>
              <a:rPr lang="en-US" dirty="0" smtClean="0"/>
              <a:t> file that is generated when initializing your structure. </a:t>
            </a:r>
            <a:endParaRPr lang="en-US" dirty="0"/>
          </a:p>
        </p:txBody>
      </p:sp>
    </p:spTree>
    <p:extLst>
      <p:ext uri="{BB962C8B-B14F-4D97-AF65-F5344CB8AC3E}">
        <p14:creationId xmlns:p14="http://schemas.microsoft.com/office/powerpoint/2010/main" val="2184755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Analysis</a:t>
            </a:r>
            <a:endParaRPr lang="en-US" dirty="0"/>
          </a:p>
        </p:txBody>
      </p:sp>
      <p:sp>
        <p:nvSpPr>
          <p:cNvPr id="3" name="Content Placeholder 2"/>
          <p:cNvSpPr>
            <a:spLocks noGrp="1"/>
          </p:cNvSpPr>
          <p:nvPr>
            <p:ph idx="1"/>
          </p:nvPr>
        </p:nvSpPr>
        <p:spPr/>
        <p:txBody>
          <a:bodyPr/>
          <a:lstStyle/>
          <a:p>
            <a:r>
              <a:rPr lang="en-US" dirty="0" smtClean="0"/>
              <a:t>GROMACS output includes position information from each time step that can help us make a movie of the simulation.</a:t>
            </a:r>
          </a:p>
          <a:p>
            <a:pPr lvl="1"/>
            <a:r>
              <a:rPr lang="en-US" dirty="0" smtClean="0"/>
              <a:t>We also perform some data extraction at each step such as atom1-atom2 distance and atom1-atom3-atom2 angle.</a:t>
            </a:r>
          </a:p>
          <a:p>
            <a:r>
              <a:rPr lang="en-US" dirty="0" smtClean="0"/>
              <a:t>This distance and angle data is how </a:t>
            </a:r>
            <a:r>
              <a:rPr lang="en-US" dirty="0" err="1" smtClean="0"/>
              <a:t>Elana</a:t>
            </a:r>
            <a:r>
              <a:rPr lang="en-US" dirty="0" smtClean="0"/>
              <a:t> </a:t>
            </a:r>
            <a:r>
              <a:rPr lang="en-US" dirty="0" err="1" smtClean="0"/>
              <a:t>Stennet</a:t>
            </a:r>
            <a:r>
              <a:rPr lang="en-US" dirty="0" smtClean="0"/>
              <a:t> from Arizona State University dealt with this issue in </a:t>
            </a:r>
            <a:r>
              <a:rPr lang="en-US" i="1" dirty="0" err="1" smtClean="0"/>
              <a:t>Photophysical</a:t>
            </a:r>
            <a:r>
              <a:rPr lang="en-US" i="1" dirty="0" smtClean="0"/>
              <a:t> and Dynamical Properties of Doubly Linked Cy3−DNA Constructs </a:t>
            </a:r>
            <a:r>
              <a:rPr lang="en-US" dirty="0" smtClean="0"/>
              <a:t>(2013).</a:t>
            </a:r>
          </a:p>
          <a:p>
            <a:r>
              <a:rPr lang="en-US" dirty="0" smtClean="0"/>
              <a:t>Before we go and make out own script, what can GROMACS do to help us here?</a:t>
            </a:r>
          </a:p>
          <a:p>
            <a:pPr lvl="1"/>
            <a:r>
              <a:rPr lang="en-US" dirty="0" smtClean="0"/>
              <a:t>It turns out a lot!</a:t>
            </a:r>
          </a:p>
          <a:p>
            <a:pPr lvl="1"/>
            <a:endParaRPr lang="en-US" dirty="0"/>
          </a:p>
        </p:txBody>
      </p:sp>
    </p:spTree>
    <p:extLst>
      <p:ext uri="{BB962C8B-B14F-4D97-AF65-F5344CB8AC3E}">
        <p14:creationId xmlns:p14="http://schemas.microsoft.com/office/powerpoint/2010/main" val="4028746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Analysis: Theory</a:t>
            </a:r>
            <a:endParaRPr lang="en-US" dirty="0"/>
          </a:p>
        </p:txBody>
      </p:sp>
      <p:sp>
        <p:nvSpPr>
          <p:cNvPr id="3" name="Content Placeholder 2"/>
          <p:cNvSpPr>
            <a:spLocks noGrp="1"/>
          </p:cNvSpPr>
          <p:nvPr>
            <p:ph idx="1"/>
          </p:nvPr>
        </p:nvSpPr>
        <p:spPr/>
        <p:txBody>
          <a:bodyPr>
            <a:normAutofit fontScale="92500" lnSpcReduction="20000"/>
          </a:bodyPr>
          <a:lstStyle/>
          <a:p>
            <a:r>
              <a:rPr lang="en-US" dirty="0"/>
              <a:t>We want to create a distance of </a:t>
            </a:r>
            <a:r>
              <a:rPr lang="en-US" dirty="0" smtClean="0"/>
              <a:t>groups </a:t>
            </a:r>
            <a:r>
              <a:rPr lang="en-US" dirty="0"/>
              <a:t>vs angle of groups plot per </a:t>
            </a:r>
            <a:r>
              <a:rPr lang="en-US" dirty="0" err="1"/>
              <a:t>Stennet</a:t>
            </a:r>
            <a:r>
              <a:rPr lang="en-US" dirty="0"/>
              <a:t> et. </a:t>
            </a:r>
            <a:r>
              <a:rPr lang="en-US" dirty="0" smtClean="0"/>
              <a:t>al. </a:t>
            </a:r>
            <a:endParaRPr lang="en-US" dirty="0"/>
          </a:p>
          <a:p>
            <a:pPr lvl="1"/>
            <a:r>
              <a:rPr lang="en-US" dirty="0"/>
              <a:t>Distance is very easy. The angle will require some creativity.</a:t>
            </a:r>
          </a:p>
          <a:p>
            <a:pPr lvl="1"/>
            <a:r>
              <a:rPr lang="en-US" dirty="0"/>
              <a:t>We can create </a:t>
            </a:r>
            <a:r>
              <a:rPr lang="en-US" dirty="0" err="1"/>
              <a:t>CoM</a:t>
            </a:r>
            <a:r>
              <a:rPr lang="en-US" dirty="0"/>
              <a:t> data for each </a:t>
            </a:r>
            <a:r>
              <a:rPr lang="en-US" dirty="0" smtClean="0"/>
              <a:t>group</a:t>
            </a:r>
          </a:p>
          <a:p>
            <a:r>
              <a:rPr lang="en-US" dirty="0" smtClean="0"/>
              <a:t>GROMACS can either work with individually named atoms in a list of perform analysis on assigned groups of atoms</a:t>
            </a:r>
          </a:p>
          <a:p>
            <a:pPr lvl="1"/>
            <a:r>
              <a:rPr lang="en-US" dirty="0" smtClean="0"/>
              <a:t>Focusing on groups and defining them by their center of mass allows us to track a group over the simulation</a:t>
            </a:r>
          </a:p>
          <a:p>
            <a:r>
              <a:rPr lang="en-US" dirty="0" smtClean="0"/>
              <a:t>GROMACS can find the distance between atoms or the center of mass of groups of atoms. </a:t>
            </a:r>
          </a:p>
          <a:p>
            <a:pPr lvl="1"/>
            <a:r>
              <a:rPr lang="en-US" dirty="0" smtClean="0"/>
              <a:t>This can be tricky to process data since the file types are in some unique binary types used by GROMACS. Luckily there ae Python libraries that exist that can open these and let us peek inside</a:t>
            </a:r>
          </a:p>
          <a:p>
            <a:pPr lvl="1"/>
            <a:r>
              <a:rPr lang="en-US" dirty="0">
                <a:hlinkClick r:id="rId2"/>
              </a:rPr>
              <a:t>https://www.mdanalysis.org/</a:t>
            </a:r>
            <a:endParaRPr lang="en-US" dirty="0" smtClean="0"/>
          </a:p>
        </p:txBody>
      </p:sp>
    </p:spTree>
    <p:extLst>
      <p:ext uri="{BB962C8B-B14F-4D97-AF65-F5344CB8AC3E}">
        <p14:creationId xmlns:p14="http://schemas.microsoft.com/office/powerpoint/2010/main" val="1633497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Analysis: Theory cont.</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sz="half" idx="1"/>
              </p:nvPr>
            </p:nvSpPr>
            <p:spPr/>
            <p:txBody>
              <a:bodyPr/>
              <a:lstStyle/>
              <a:p>
                <a:r>
                  <a:rPr lang="en-US" dirty="0" smtClean="0"/>
                  <a:t>Given our data of a distance and the points in space, we should be able to calculate the angle by from the dot product of the two vectors that we can create.</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r>
                          <m:rPr>
                            <m:nor/>
                          </m:rPr>
                          <a:rPr lang="el-GR" dirty="0"/>
                          <m:t>α</m:t>
                        </m:r>
                        <m:r>
                          <m:rPr>
                            <m:nor/>
                          </m:rPr>
                          <a:rPr lang="en-US" dirty="0"/>
                          <m:t> </m:t>
                        </m:r>
                      </m:e>
                    </m:func>
                  </m:oMath>
                </a14:m>
                <a:endParaRPr lang="en-US" dirty="0" smtClean="0"/>
              </a:p>
              <a:p>
                <a:r>
                  <a:rPr lang="en-US" dirty="0" smtClean="0"/>
                  <a:t> </a:t>
                </a:r>
                <a14:m>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cos</m:t>
                            </m:r>
                          </m:e>
                          <m:sup>
                            <m:r>
                              <a:rPr lang="en-US" b="0" i="1" smtClean="0">
                                <a:latin typeface="Cambria Math" panose="02040503050406030204" pitchFamily="18" charset="0"/>
                              </a:rPr>
                              <m:t>−1</m:t>
                            </m:r>
                          </m:sup>
                        </m:sSup>
                      </m:fName>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num>
                          <m:den>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2</m:t>
                                </m:r>
                              </m:sub>
                            </m:sSub>
                            <m:r>
                              <a:rPr lang="en-US" i="1">
                                <a:latin typeface="Cambria Math" panose="02040503050406030204" pitchFamily="18" charset="0"/>
                              </a:rPr>
                              <m:t>|</m:t>
                            </m:r>
                          </m:den>
                        </m:f>
                      </m:e>
                    </m:func>
                  </m:oMath>
                </a14:m>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sz="half" idx="1"/>
              </p:nvPr>
            </p:nvSpPr>
            <p:spPr>
              <a:blipFill>
                <a:blip r:embed="rId2"/>
                <a:stretch>
                  <a:fillRect l="-2118" t="-2241" r="-1882"/>
                </a:stretch>
              </a:blipFill>
            </p:spPr>
            <p:txBody>
              <a:bodyPr/>
              <a:lstStyle/>
              <a:p>
                <a:r>
                  <a:rPr lang="en-US">
                    <a:noFill/>
                  </a:rPr>
                  <a:t> </a:t>
                </a:r>
              </a:p>
            </p:txBody>
          </p:sp>
        </mc:Fallback>
      </mc:AlternateContent>
      <p:cxnSp>
        <p:nvCxnSpPr>
          <p:cNvPr id="6" name="Straight Arrow Connector 5"/>
          <p:cNvCxnSpPr/>
          <p:nvPr/>
        </p:nvCxnSpPr>
        <p:spPr>
          <a:xfrm flipV="1">
            <a:off x="8763000" y="2255520"/>
            <a:ext cx="0" cy="23926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8763000" y="4648200"/>
            <a:ext cx="3108960" cy="15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7391399" y="4648200"/>
            <a:ext cx="1371600" cy="18745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10805160" y="3778568"/>
            <a:ext cx="24384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7940039" y="3954622"/>
            <a:ext cx="24384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8915399" y="2487851"/>
            <a:ext cx="24384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p:nvPr/>
        </p:nvCxnSpPr>
        <p:spPr>
          <a:xfrm flipV="1">
            <a:off x="8244839" y="3954622"/>
            <a:ext cx="2407920" cy="17605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8183879" y="2800510"/>
            <a:ext cx="792482" cy="110220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9342122" y="4204772"/>
            <a:ext cx="542136" cy="369332"/>
          </a:xfrm>
          <a:prstGeom prst="rect">
            <a:avLst/>
          </a:prstGeom>
          <a:noFill/>
        </p:spPr>
        <p:txBody>
          <a:bodyPr wrap="none" rtlCol="0">
            <a:spAutoFit/>
          </a:bodyPr>
          <a:lstStyle/>
          <a:p>
            <a:r>
              <a:rPr lang="en-US" dirty="0" smtClean="0"/>
              <a:t>R_1</a:t>
            </a:r>
            <a:endParaRPr lang="en-US" dirty="0"/>
          </a:p>
        </p:txBody>
      </p:sp>
      <p:sp>
        <p:nvSpPr>
          <p:cNvPr id="24" name="TextBox 23"/>
          <p:cNvSpPr txBox="1"/>
          <p:nvPr/>
        </p:nvSpPr>
        <p:spPr>
          <a:xfrm>
            <a:off x="7958534" y="2890838"/>
            <a:ext cx="542136" cy="369332"/>
          </a:xfrm>
          <a:prstGeom prst="rect">
            <a:avLst/>
          </a:prstGeom>
          <a:noFill/>
        </p:spPr>
        <p:txBody>
          <a:bodyPr wrap="none" rtlCol="0">
            <a:spAutoFit/>
          </a:bodyPr>
          <a:lstStyle/>
          <a:p>
            <a:r>
              <a:rPr lang="en-US" dirty="0" smtClean="0"/>
              <a:t>R_2</a:t>
            </a:r>
            <a:endParaRPr lang="en-US" dirty="0"/>
          </a:p>
        </p:txBody>
      </p:sp>
      <p:sp>
        <p:nvSpPr>
          <p:cNvPr id="25" name="TextBox 24"/>
          <p:cNvSpPr txBox="1"/>
          <p:nvPr/>
        </p:nvSpPr>
        <p:spPr>
          <a:xfrm>
            <a:off x="9159239" y="1950720"/>
            <a:ext cx="838201" cy="369332"/>
          </a:xfrm>
          <a:prstGeom prst="rect">
            <a:avLst/>
          </a:prstGeom>
          <a:noFill/>
        </p:spPr>
        <p:txBody>
          <a:bodyPr wrap="square" rtlCol="0">
            <a:spAutoFit/>
          </a:bodyPr>
          <a:lstStyle/>
          <a:p>
            <a:r>
              <a:rPr lang="en-US" dirty="0" smtClean="0"/>
              <a:t>(</a:t>
            </a:r>
            <a:r>
              <a:rPr lang="en-US" dirty="0" err="1" smtClean="0"/>
              <a:t>x,y,z</a:t>
            </a:r>
            <a:r>
              <a:rPr lang="en-US" dirty="0" smtClean="0"/>
              <a:t>)</a:t>
            </a:r>
            <a:endParaRPr lang="en-US" dirty="0"/>
          </a:p>
        </p:txBody>
      </p:sp>
      <p:sp>
        <p:nvSpPr>
          <p:cNvPr id="26" name="TextBox 25"/>
          <p:cNvSpPr txBox="1"/>
          <p:nvPr/>
        </p:nvSpPr>
        <p:spPr>
          <a:xfrm>
            <a:off x="11201401" y="3533379"/>
            <a:ext cx="838201" cy="369332"/>
          </a:xfrm>
          <a:prstGeom prst="rect">
            <a:avLst/>
          </a:prstGeom>
          <a:noFill/>
        </p:spPr>
        <p:txBody>
          <a:bodyPr wrap="square" rtlCol="0">
            <a:spAutoFit/>
          </a:bodyPr>
          <a:lstStyle/>
          <a:p>
            <a:r>
              <a:rPr lang="en-US" dirty="0" smtClean="0"/>
              <a:t>(</a:t>
            </a:r>
            <a:r>
              <a:rPr lang="en-US" dirty="0" err="1" smtClean="0"/>
              <a:t>x,y,z</a:t>
            </a:r>
            <a:r>
              <a:rPr lang="en-US" dirty="0" smtClean="0"/>
              <a:t>)</a:t>
            </a:r>
            <a:endParaRPr lang="en-US" dirty="0"/>
          </a:p>
        </p:txBody>
      </p:sp>
      <p:sp>
        <p:nvSpPr>
          <p:cNvPr id="27" name="TextBox 26"/>
          <p:cNvSpPr txBox="1"/>
          <p:nvPr/>
        </p:nvSpPr>
        <p:spPr>
          <a:xfrm>
            <a:off x="7216138" y="4204772"/>
            <a:ext cx="838201" cy="369332"/>
          </a:xfrm>
          <a:prstGeom prst="rect">
            <a:avLst/>
          </a:prstGeom>
          <a:noFill/>
        </p:spPr>
        <p:txBody>
          <a:bodyPr wrap="square" rtlCol="0">
            <a:spAutoFit/>
          </a:bodyPr>
          <a:lstStyle/>
          <a:p>
            <a:r>
              <a:rPr lang="en-US" dirty="0" smtClean="0"/>
              <a:t>(</a:t>
            </a:r>
            <a:r>
              <a:rPr lang="en-US" dirty="0" err="1" smtClean="0"/>
              <a:t>x,y,z</a:t>
            </a:r>
            <a:r>
              <a:rPr lang="en-US" dirty="0" smtClean="0"/>
              <a:t>)</a:t>
            </a:r>
            <a:endParaRPr lang="en-US" dirty="0"/>
          </a:p>
        </p:txBody>
      </p:sp>
      <p:sp>
        <p:nvSpPr>
          <p:cNvPr id="28" name="Arc 27"/>
          <p:cNvSpPr/>
          <p:nvPr/>
        </p:nvSpPr>
        <p:spPr>
          <a:xfrm>
            <a:off x="8580120" y="3451860"/>
            <a:ext cx="579119" cy="631508"/>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TextBox 28"/>
          <p:cNvSpPr txBox="1"/>
          <p:nvPr/>
        </p:nvSpPr>
        <p:spPr>
          <a:xfrm>
            <a:off x="9342122" y="3260170"/>
            <a:ext cx="542136" cy="369332"/>
          </a:xfrm>
          <a:prstGeom prst="rect">
            <a:avLst/>
          </a:prstGeom>
          <a:noFill/>
        </p:spPr>
        <p:txBody>
          <a:bodyPr wrap="square" rtlCol="0">
            <a:spAutoFit/>
          </a:bodyPr>
          <a:lstStyle/>
          <a:p>
            <a:r>
              <a:rPr lang="el-GR" dirty="0" smtClean="0"/>
              <a:t>α</a:t>
            </a:r>
            <a:endParaRPr lang="en-US" dirty="0"/>
          </a:p>
        </p:txBody>
      </p:sp>
    </p:spTree>
    <p:extLst>
      <p:ext uri="{BB962C8B-B14F-4D97-AF65-F5344CB8AC3E}">
        <p14:creationId xmlns:p14="http://schemas.microsoft.com/office/powerpoint/2010/main" val="1392751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GROMACS Data Processing</a:t>
            </a:r>
            <a:endParaRPr lang="en-US" dirty="0"/>
          </a:p>
        </p:txBody>
      </p:sp>
      <p:sp>
        <p:nvSpPr>
          <p:cNvPr id="3" name="Content Placeholder 2"/>
          <p:cNvSpPr>
            <a:spLocks noGrp="1"/>
          </p:cNvSpPr>
          <p:nvPr>
            <p:ph idx="1"/>
          </p:nvPr>
        </p:nvSpPr>
        <p:spPr/>
        <p:txBody>
          <a:bodyPr/>
          <a:lstStyle/>
          <a:p>
            <a:r>
              <a:rPr lang="en-US" dirty="0" smtClean="0"/>
              <a:t>Per the guidance of </a:t>
            </a:r>
            <a:r>
              <a:rPr lang="en-US" dirty="0" err="1" smtClean="0"/>
              <a:t>Stennet</a:t>
            </a:r>
            <a:r>
              <a:rPr lang="en-US" dirty="0" smtClean="0"/>
              <a:t>, we need to make of plot of the distance of the center of mass of the monomer and the nucleotide N1 across from the monomer.</a:t>
            </a:r>
          </a:p>
          <a:p>
            <a:r>
              <a:rPr lang="en-US" dirty="0" smtClean="0"/>
              <a:t>We also need the angle calculated from the monomer, N1, and the next nucleotide in the sequence on N2.</a:t>
            </a:r>
          </a:p>
          <a:p>
            <a:r>
              <a:rPr lang="en-US" dirty="0" smtClean="0"/>
              <a:t>The goal is to get some distance and angle as a function of time and make a histogram with each bin representing the amount of time a certain orientation is found. This can show whether certain orientations are found more often than not and can be analogous to monomer orientation stability. </a:t>
            </a:r>
          </a:p>
          <a:p>
            <a:pPr lvl="1"/>
            <a:endParaRPr lang="en-US" dirty="0" smtClean="0"/>
          </a:p>
          <a:p>
            <a:endParaRPr lang="en-US" dirty="0"/>
          </a:p>
        </p:txBody>
      </p:sp>
    </p:spTree>
    <p:extLst>
      <p:ext uri="{BB962C8B-B14F-4D97-AF65-F5344CB8AC3E}">
        <p14:creationId xmlns:p14="http://schemas.microsoft.com/office/powerpoint/2010/main" val="784875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GROMACS Specific Instructions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To isolate the monomer, N1, and N2, we need to create specific indexes to only focus on these atoms.</a:t>
            </a:r>
          </a:p>
          <a:p>
            <a:pPr lvl="1"/>
            <a:r>
              <a:rPr lang="en-US" dirty="0" smtClean="0"/>
              <a:t>Identify the atoms that make up the group and write these down</a:t>
            </a:r>
          </a:p>
          <a:p>
            <a:pPr lvl="2"/>
            <a:r>
              <a:rPr lang="en-US" dirty="0" smtClean="0"/>
              <a:t>I find that </a:t>
            </a:r>
            <a:r>
              <a:rPr lang="en-US" dirty="0"/>
              <a:t>t</a:t>
            </a:r>
            <a:r>
              <a:rPr lang="en-US" dirty="0" smtClean="0"/>
              <a:t>he interface of UCSF Chimera for this type of work</a:t>
            </a:r>
          </a:p>
          <a:p>
            <a:pPr lvl="1"/>
            <a:r>
              <a:rPr lang="en-US" dirty="0" err="1" smtClean="0"/>
              <a:t>gmx</a:t>
            </a:r>
            <a:r>
              <a:rPr lang="en-US" dirty="0" smtClean="0"/>
              <a:t> </a:t>
            </a:r>
            <a:r>
              <a:rPr lang="en-US" dirty="0" err="1" smtClean="0"/>
              <a:t>make_ndx</a:t>
            </a:r>
            <a:r>
              <a:rPr lang="en-US" dirty="0" smtClean="0"/>
              <a:t> -f </a:t>
            </a:r>
            <a:r>
              <a:rPr lang="en-US" dirty="0" err="1" smtClean="0"/>
              <a:t>input.gro</a:t>
            </a:r>
            <a:r>
              <a:rPr lang="en-US" dirty="0" smtClean="0"/>
              <a:t> -o </a:t>
            </a:r>
            <a:r>
              <a:rPr lang="en-US" dirty="0" err="1" smtClean="0"/>
              <a:t>histogram.ndx</a:t>
            </a:r>
            <a:endParaRPr lang="en-US" dirty="0" smtClean="0"/>
          </a:p>
          <a:p>
            <a:pPr lvl="2"/>
            <a:r>
              <a:rPr lang="en-US" dirty="0" smtClean="0"/>
              <a:t>Specify the atoms identified here. You will identify the groups as a #-#, </a:t>
            </a:r>
            <a:endParaRPr lang="en-US" dirty="0"/>
          </a:p>
          <a:p>
            <a:pPr lvl="3"/>
            <a:r>
              <a:rPr lang="pt-BR" dirty="0"/>
              <a:t>DA </a:t>
            </a:r>
            <a:r>
              <a:rPr lang="pt-BR" dirty="0" smtClean="0"/>
              <a:t>16: 538-1569 </a:t>
            </a:r>
          </a:p>
          <a:p>
            <a:pPr lvl="3"/>
            <a:r>
              <a:rPr lang="pt-BR" dirty="0" smtClean="0"/>
              <a:t>DA 15:1506-1537</a:t>
            </a:r>
            <a:endParaRPr lang="pt-BR" dirty="0"/>
          </a:p>
          <a:p>
            <a:pPr lvl="3"/>
            <a:r>
              <a:rPr lang="pt-BR" dirty="0"/>
              <a:t>CY5 </a:t>
            </a:r>
            <a:r>
              <a:rPr lang="pt-BR" dirty="0" smtClean="0"/>
              <a:t>42 509-583</a:t>
            </a:r>
            <a:endParaRPr lang="en-US" dirty="0" smtClean="0"/>
          </a:p>
          <a:p>
            <a:pPr lvl="2"/>
            <a:r>
              <a:rPr lang="en-US" dirty="0" smtClean="0"/>
              <a:t> </a:t>
            </a:r>
            <a:r>
              <a:rPr lang="en-US" dirty="0" smtClean="0"/>
              <a:t>Check the new group you’ve made with:</a:t>
            </a:r>
          </a:p>
          <a:p>
            <a:pPr lvl="3"/>
            <a:r>
              <a:rPr lang="en-US" dirty="0" smtClean="0"/>
              <a:t>vim </a:t>
            </a:r>
            <a:r>
              <a:rPr lang="en-US" dirty="0" err="1" smtClean="0"/>
              <a:t>histogram.ndx</a:t>
            </a:r>
            <a:r>
              <a:rPr lang="en-US" dirty="0" smtClean="0"/>
              <a:t> </a:t>
            </a:r>
          </a:p>
          <a:p>
            <a:pPr lvl="3"/>
            <a:r>
              <a:rPr lang="en-US" dirty="0" smtClean="0"/>
              <a:t>If </a:t>
            </a:r>
            <a:r>
              <a:rPr lang="en-US" dirty="0" smtClean="0"/>
              <a:t>you use this index as is, you will have to remember the atom groups by this GROMACS atom naming, so now DA-16 would be identified as a_1538-1569</a:t>
            </a:r>
          </a:p>
          <a:p>
            <a:pPr lvl="3"/>
            <a:r>
              <a:rPr lang="en-US" dirty="0" smtClean="0"/>
              <a:t>If you have </a:t>
            </a:r>
            <a:r>
              <a:rPr lang="en-US" dirty="0" err="1" smtClean="0"/>
              <a:t>vim’d</a:t>
            </a:r>
            <a:r>
              <a:rPr lang="en-US" dirty="0" smtClean="0"/>
              <a:t> into the index file, you can find the name in the brackets and replace that </a:t>
            </a:r>
            <a:r>
              <a:rPr lang="en-US" dirty="0" smtClean="0"/>
              <a:t>string </a:t>
            </a:r>
            <a:r>
              <a:rPr lang="en-US" dirty="0" smtClean="0"/>
              <a:t>as DA-16</a:t>
            </a:r>
          </a:p>
        </p:txBody>
      </p:sp>
    </p:spTree>
    <p:extLst>
      <p:ext uri="{BB962C8B-B14F-4D97-AF65-F5344CB8AC3E}">
        <p14:creationId xmlns:p14="http://schemas.microsoft.com/office/powerpoint/2010/main" val="154639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Chimera Example</a:t>
            </a:r>
            <a:endParaRPr lang="en-US" dirty="0"/>
          </a:p>
        </p:txBody>
      </p:sp>
      <p:pic>
        <p:nvPicPr>
          <p:cNvPr id="4" name="Content Placeholder 3"/>
          <p:cNvPicPr>
            <a:picLocks noGrp="1" noChangeAspect="1"/>
          </p:cNvPicPr>
          <p:nvPr>
            <p:ph idx="1"/>
          </p:nvPr>
        </p:nvPicPr>
        <p:blipFill>
          <a:blip r:embed="rId2"/>
          <a:stretch>
            <a:fillRect/>
          </a:stretch>
        </p:blipFill>
        <p:spPr>
          <a:xfrm>
            <a:off x="2160994" y="1825625"/>
            <a:ext cx="7870012" cy="4351338"/>
          </a:xfrm>
          <a:prstGeom prst="rect">
            <a:avLst/>
          </a:prstGeom>
        </p:spPr>
      </p:pic>
    </p:spTree>
    <p:extLst>
      <p:ext uri="{BB962C8B-B14F-4D97-AF65-F5344CB8AC3E}">
        <p14:creationId xmlns:p14="http://schemas.microsoft.com/office/powerpoint/2010/main" val="1551075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Extracting names of atoms</a:t>
            </a:r>
            <a:endParaRPr lang="en-US" dirty="0"/>
          </a:p>
        </p:txBody>
      </p:sp>
      <p:sp>
        <p:nvSpPr>
          <p:cNvPr id="3" name="Content Placeholder 2"/>
          <p:cNvSpPr>
            <a:spLocks noGrp="1"/>
          </p:cNvSpPr>
          <p:nvPr>
            <p:ph idx="1"/>
          </p:nvPr>
        </p:nvSpPr>
        <p:spPr/>
        <p:txBody>
          <a:bodyPr/>
          <a:lstStyle/>
          <a:p>
            <a:r>
              <a:rPr lang="en-US" dirty="0" smtClean="0"/>
              <a:t>Chimera helped us identify the residues we care about:</a:t>
            </a:r>
          </a:p>
          <a:p>
            <a:pPr lvl="1"/>
            <a:r>
              <a:rPr lang="en-US" dirty="0" smtClean="0"/>
              <a:t>DA 16, DA 15, and CY5 42</a:t>
            </a:r>
          </a:p>
          <a:p>
            <a:pPr lvl="1"/>
            <a:r>
              <a:rPr lang="en-US" dirty="0" smtClean="0"/>
              <a:t>Open .</a:t>
            </a:r>
            <a:r>
              <a:rPr lang="en-US" dirty="0" err="1" smtClean="0"/>
              <a:t>pdb</a:t>
            </a:r>
            <a:r>
              <a:rPr lang="en-US" dirty="0" smtClean="0"/>
              <a:t> file and look for those atoms and their atoms numbers ( column 2)</a:t>
            </a:r>
          </a:p>
          <a:p>
            <a:pPr lvl="1"/>
            <a:endParaRPr lang="en-US" dirty="0"/>
          </a:p>
        </p:txBody>
      </p:sp>
      <p:pic>
        <p:nvPicPr>
          <p:cNvPr id="5" name="Picture 4"/>
          <p:cNvPicPr>
            <a:picLocks noChangeAspect="1"/>
          </p:cNvPicPr>
          <p:nvPr/>
        </p:nvPicPr>
        <p:blipFill>
          <a:blip r:embed="rId3"/>
          <a:stretch>
            <a:fillRect/>
          </a:stretch>
        </p:blipFill>
        <p:spPr>
          <a:xfrm>
            <a:off x="1017288" y="3436458"/>
            <a:ext cx="7724775" cy="2676525"/>
          </a:xfrm>
          <a:prstGeom prst="rect">
            <a:avLst/>
          </a:prstGeom>
        </p:spPr>
      </p:pic>
    </p:spTree>
    <p:extLst>
      <p:ext uri="{BB962C8B-B14F-4D97-AF65-F5344CB8AC3E}">
        <p14:creationId xmlns:p14="http://schemas.microsoft.com/office/powerpoint/2010/main" val="2645096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GROMACS Specific Instructions Cont.</a:t>
            </a:r>
          </a:p>
        </p:txBody>
      </p:sp>
      <p:sp>
        <p:nvSpPr>
          <p:cNvPr id="3" name="Content Placeholder 2"/>
          <p:cNvSpPr>
            <a:spLocks noGrp="1"/>
          </p:cNvSpPr>
          <p:nvPr>
            <p:ph idx="1"/>
          </p:nvPr>
        </p:nvSpPr>
        <p:spPr/>
        <p:txBody>
          <a:bodyPr/>
          <a:lstStyle/>
          <a:p>
            <a:r>
              <a:rPr lang="en-US" dirty="0"/>
              <a:t>With these index files, we can now get the center of mass </a:t>
            </a:r>
            <a:r>
              <a:rPr lang="en-US" dirty="0" smtClean="0"/>
              <a:t>(-com) as </a:t>
            </a:r>
            <a:r>
              <a:rPr lang="en-US" dirty="0"/>
              <a:t>a function of time for all groups</a:t>
            </a:r>
            <a:r>
              <a:rPr lang="en-US" dirty="0" smtClean="0"/>
              <a:t>.</a:t>
            </a:r>
          </a:p>
          <a:p>
            <a:r>
              <a:rPr lang="en-US" dirty="0" err="1" smtClean="0"/>
              <a:t>gmx</a:t>
            </a:r>
            <a:r>
              <a:rPr lang="en-US" dirty="0" smtClean="0"/>
              <a:t> distance -f </a:t>
            </a:r>
            <a:r>
              <a:rPr lang="en-US" dirty="0" err="1" smtClean="0"/>
              <a:t>input.xtc</a:t>
            </a:r>
            <a:r>
              <a:rPr lang="en-US" dirty="0"/>
              <a:t> </a:t>
            </a:r>
            <a:r>
              <a:rPr lang="en-US" dirty="0" smtClean="0"/>
              <a:t>-s </a:t>
            </a:r>
            <a:r>
              <a:rPr lang="en-US" dirty="0" err="1" smtClean="0"/>
              <a:t>input.gro</a:t>
            </a:r>
            <a:r>
              <a:rPr lang="en-US" dirty="0" smtClean="0"/>
              <a:t> –n </a:t>
            </a:r>
            <a:r>
              <a:rPr lang="en-US" dirty="0" err="1" smtClean="0"/>
              <a:t>index.ndx</a:t>
            </a:r>
            <a:r>
              <a:rPr lang="en-US" dirty="0" smtClean="0"/>
              <a:t> – select ‘com of group “CY5” plus com of group “DA-16” –</a:t>
            </a:r>
            <a:r>
              <a:rPr lang="en-US" dirty="0" err="1" smtClean="0"/>
              <a:t>oxyz</a:t>
            </a:r>
            <a:r>
              <a:rPr lang="en-US" dirty="0" smtClean="0"/>
              <a:t> –</a:t>
            </a:r>
            <a:r>
              <a:rPr lang="en-US" dirty="0" err="1" smtClean="0"/>
              <a:t>oall</a:t>
            </a:r>
            <a:r>
              <a:rPr lang="en-US" dirty="0" smtClean="0"/>
              <a:t> output</a:t>
            </a:r>
          </a:p>
          <a:p>
            <a:pPr lvl="1"/>
            <a:r>
              <a:rPr lang="en-US" dirty="0" smtClean="0"/>
              <a:t>“CY5” and “DA-16” are only usable here if you have renamed the group names as such. Make sure that you use the group name found in the index file.</a:t>
            </a:r>
          </a:p>
          <a:p>
            <a:r>
              <a:rPr lang="en-US" dirty="0" smtClean="0"/>
              <a:t>Do this again to make the distance of DA16 and 15 so we can make 2 vectors and get angles. GROMACS does not do angles of the COM very well</a:t>
            </a:r>
            <a:endParaRPr lang="en-US" dirty="0"/>
          </a:p>
          <a:p>
            <a:endParaRPr lang="en-US" dirty="0"/>
          </a:p>
        </p:txBody>
      </p:sp>
    </p:spTree>
    <p:extLst>
      <p:ext uri="{BB962C8B-B14F-4D97-AF65-F5344CB8AC3E}">
        <p14:creationId xmlns:p14="http://schemas.microsoft.com/office/powerpoint/2010/main" val="1720607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4025435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Plotting</a:t>
            </a:r>
            <a:endParaRPr lang="en-US" dirty="0"/>
          </a:p>
        </p:txBody>
      </p:sp>
      <p:sp>
        <p:nvSpPr>
          <p:cNvPr id="3" name="Content Placeholder 2"/>
          <p:cNvSpPr>
            <a:spLocks noGrp="1"/>
          </p:cNvSpPr>
          <p:nvPr>
            <p:ph idx="1"/>
          </p:nvPr>
        </p:nvSpPr>
        <p:spPr/>
        <p:txBody>
          <a:bodyPr/>
          <a:lstStyle/>
          <a:p>
            <a:r>
              <a:rPr lang="en-US" dirty="0" smtClean="0"/>
              <a:t>From here you should have the raw data make a histogram like </a:t>
            </a:r>
            <a:r>
              <a:rPr lang="en-US" dirty="0" err="1" smtClean="0"/>
              <a:t>Stennet</a:t>
            </a:r>
            <a:r>
              <a:rPr lang="en-US" dirty="0" smtClean="0"/>
              <a:t>.</a:t>
            </a:r>
          </a:p>
          <a:p>
            <a:r>
              <a:rPr lang="en-US" dirty="0" smtClean="0"/>
              <a:t>I would use python with </a:t>
            </a:r>
            <a:r>
              <a:rPr lang="en-US" dirty="0" err="1" smtClean="0"/>
              <a:t>matplotlib</a:t>
            </a:r>
            <a:r>
              <a:rPr lang="en-US" dirty="0" smtClean="0"/>
              <a:t>, but any language that you’re comfortable will do.</a:t>
            </a:r>
            <a:endParaRPr lang="en-US" dirty="0"/>
          </a:p>
        </p:txBody>
      </p:sp>
    </p:spTree>
    <p:extLst>
      <p:ext uri="{BB962C8B-B14F-4D97-AF65-F5344CB8AC3E}">
        <p14:creationId xmlns:p14="http://schemas.microsoft.com/office/powerpoint/2010/main" val="20597847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1871</TotalTime>
  <Words>1052</Words>
  <Application>Microsoft Office PowerPoint</Application>
  <PresentationFormat>Widescreen</PresentationFormat>
  <Paragraphs>90</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Cambria Math</vt:lpstr>
      <vt:lpstr>Office Theme</vt:lpstr>
      <vt:lpstr>INSPIRE Single Monomer Rotation</vt:lpstr>
      <vt:lpstr>Outline</vt:lpstr>
      <vt:lpstr>Starting Structure</vt:lpstr>
      <vt:lpstr>Molecular Dynamics - Preparations</vt:lpstr>
      <vt:lpstr>Analysis</vt:lpstr>
      <vt:lpstr>Analysis: Theory</vt:lpstr>
      <vt:lpstr>Analysis: Theory cont.</vt:lpstr>
      <vt:lpstr>GROMACS Data Processing</vt:lpstr>
      <vt:lpstr>GROMACS Specific Instructions</vt:lpstr>
      <vt:lpstr>Chimera Example</vt:lpstr>
      <vt:lpstr>Extracting names of atoms</vt:lpstr>
      <vt:lpstr>GROMACS Specific Instructions Cont.</vt:lpstr>
      <vt:lpstr>PowerPoint Presentation</vt:lpstr>
      <vt:lpstr>Plotting</vt:lpstr>
    </vt:vector>
  </TitlesOfParts>
  <Company>Boise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INSPIRE Single Monomer Rotation</dc:title>
  <dc:creator>COEN User</dc:creator>
  <cp:lastModifiedBy>COEN User</cp:lastModifiedBy>
  <cp:revision>26</cp:revision>
  <dcterms:created xsi:type="dcterms:W3CDTF">2020-04-08T19:50:30Z</dcterms:created>
  <dcterms:modified xsi:type="dcterms:W3CDTF">2020-04-24T19:43:28Z</dcterms:modified>
</cp:coreProperties>
</file>